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5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4"/>
            <a:ext cx="5917677" cy="2554758"/>
          </a:xfrm>
        </p:spPr>
        <p:txBody>
          <a:bodyPr anchor="b"/>
          <a:lstStyle>
            <a:lvl1pPr>
              <a:defRPr sz="480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7"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7419" y="1824010"/>
            <a:ext cx="990599" cy="240258"/>
          </a:xfrm>
        </p:spPr>
        <p:txBody>
          <a:bodyPr/>
          <a:lstStyle>
            <a:lvl1pPr algn="l">
              <a:defRPr sz="900" b="0" i="0">
                <a:solidFill>
                  <a:schemeClr val="bg1"/>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bwMode="gray">
          <a:xfrm rot="5400000">
            <a:off x="6246568" y="3264407"/>
            <a:ext cx="3859795" cy="228659"/>
          </a:xfrm>
        </p:spPr>
        <p:txBody>
          <a:bodyPr/>
          <a:lstStyle>
            <a:lvl1pPr>
              <a:defRPr sz="900" b="0" i="0">
                <a:solidFill>
                  <a:schemeClr val="bg1"/>
                </a:solidFill>
              </a:defRPr>
            </a:lvl1p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9"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2395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18"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65411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hasCustomPrompt="1"/>
          </p:nvPr>
        </p:nvSpPr>
        <p:spPr>
          <a:xfrm>
            <a:off x="866443" y="2257588"/>
            <a:ext cx="3101763" cy="3020343"/>
          </a:xfrm>
        </p:spPr>
        <p:txBody>
          <a:bodyPr anchor="ctr"/>
          <a:lstStyle>
            <a:lvl1pPr algn="l">
              <a:defRPr sz="3200" b="0" cap="none"/>
            </a:lvl1pPr>
          </a:lstStyle>
          <a:p>
            <a:r>
              <a:rPr lang="en-US" dirty="0"/>
              <a:t>Click to edit Master title style</a:t>
            </a:r>
            <a:br>
              <a:rPr lang="en-US" dirty="0"/>
            </a:br>
            <a:r>
              <a:rPr lang="en-US" dirty="0"/>
              <a:t>third</a:t>
            </a:r>
          </a:p>
        </p:txBody>
      </p:sp>
      <p:sp>
        <p:nvSpPr>
          <p:cNvPr id="3" name="Text Placeholder 2"/>
          <p:cNvSpPr>
            <a:spLocks noGrp="1"/>
          </p:cNvSpPr>
          <p:nvPr>
            <p:ph type="body" idx="1"/>
          </p:nvPr>
        </p:nvSpPr>
        <p:spPr>
          <a:xfrm>
            <a:off x="5119261" y="2257267"/>
            <a:ext cx="3054653" cy="3020345"/>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7745644"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54509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79"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532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5001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1" y="3248040"/>
            <a:ext cx="3636978" cy="27717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0" y="248875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040"/>
            <a:ext cx="3636980" cy="277390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13"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8336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10"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32839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11" name="Rectangle 10"/>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15803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13" name="Rectangle 12"/>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90" cy="2938036"/>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19" name="Rectangle 18"/>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77978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21" name="Rectangle 2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51591" y="1343112"/>
            <a:ext cx="3001938" cy="1613085"/>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2" y="3086100"/>
            <a:ext cx="3001938" cy="24511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84953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Rectangle 14"/>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20" name="Rectangle 19"/>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27880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Rectangle 1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lstStyle>
            <a:lvl1pPr>
              <a:defRPr sz="3600"/>
            </a:lvl1pPr>
          </a:lstStyle>
          <a:p>
            <a:r>
              <a:rPr lang="en-US"/>
              <a:t>Click to edit Master title style</a:t>
            </a:r>
            <a:endParaRPr lang="en-US" dirty="0"/>
          </a:p>
        </p:txBody>
      </p:sp>
      <p:sp>
        <p:nvSpPr>
          <p:cNvPr id="15" name="Text Placeholder 3"/>
          <p:cNvSpPr>
            <a:spLocks noGrp="1"/>
          </p:cNvSpPr>
          <p:nvPr>
            <p:ph type="body" sz="half" idx="13"/>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45535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4" name="Rectangle 13"/>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1" name="TextBox 10"/>
          <p:cNvSpPr txBox="1"/>
          <p:nvPr/>
        </p:nvSpPr>
        <p:spPr bwMode="gray">
          <a:xfrm>
            <a:off x="7033421" y="2893960"/>
            <a:ext cx="679240"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10" name="TextBox 9"/>
          <p:cNvSpPr txBox="1"/>
          <p:nvPr/>
        </p:nvSpPr>
        <p:spPr bwMode="gray">
          <a:xfrm>
            <a:off x="625840" y="590998"/>
            <a:ext cx="601591"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2" name="Title 1"/>
          <p:cNvSpPr>
            <a:spLocks noGrp="1"/>
          </p:cNvSpPr>
          <p:nvPr>
            <p:ph type="title"/>
          </p:nvPr>
        </p:nvSpPr>
        <p:spPr>
          <a:xfrm>
            <a:off x="1110763" y="914400"/>
            <a:ext cx="6177681" cy="28846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tx2">
                    <a:lumMod val="40000"/>
                    <a:lumOff val="6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78870" y="5000815"/>
            <a:ext cx="6422005" cy="101817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22" name="Rectangle 21"/>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80430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11" name="Rectangle 10"/>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43282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4852" y="921453"/>
            <a:ext cx="6423592" cy="715512"/>
          </a:xfrm>
        </p:spPr>
        <p:txBody>
          <a:bodyPr anchor="ct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1"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2"/>
            <a:ext cx="2313431"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1" y="2485332"/>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2"/>
            <a:ext cx="2326750" cy="288836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0"/>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0" y="3147162"/>
            <a:ext cx="2313740"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8710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38585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nchor="ct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0390" y="4179595"/>
            <a:ext cx="2295329"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48208"/>
            <a:ext cx="2309279" cy="11766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30434" y="4179594"/>
            <a:ext cx="2291674"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486834"/>
            <a:ext cx="2025182" cy="144970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48209"/>
            <a:ext cx="2317790" cy="118837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4166523"/>
            <a:ext cx="2304671" cy="681684"/>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6" y="2489200"/>
            <a:ext cx="2018838"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0" y="4848209"/>
            <a:ext cx="2304671" cy="118942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44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48436"/>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891724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1"/>
          <p:cNvSpPr>
            <a:spLocks noGrp="1"/>
          </p:cNvSpPr>
          <p:nvPr>
            <p:ph type="title"/>
          </p:nvPr>
        </p:nvSpPr>
        <p:spPr>
          <a:xfrm>
            <a:off x="864852" y="921453"/>
            <a:ext cx="6423592" cy="715512"/>
          </a:xfrm>
        </p:spPr>
        <p:txBody>
          <a:bodyPr anchor="ctr"/>
          <a:lstStyle>
            <a:lvl1pPr>
              <a:defRPr sz="32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79587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10890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9" name="Rectangle 18"/>
            <p:cNvSpPr/>
            <p:nvPr/>
          </p:nvSpPr>
          <p:spPr>
            <a:xfrm>
              <a:off x="0" y="0"/>
              <a:ext cx="9144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6" name="Freeform 25"/>
            <p:cNvSpPr/>
            <p:nvPr/>
          </p:nvSpPr>
          <p:spPr bwMode="gray">
            <a:xfrm>
              <a:off x="485023" y="1856958"/>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1"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1"/>
            <a:ext cx="6345260" cy="35305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60111" y="6377097"/>
            <a:ext cx="990599" cy="228659"/>
          </a:xfrm>
          <a:prstGeom prst="rect">
            <a:avLst/>
          </a:prstGeom>
        </p:spPr>
        <p:txBody>
          <a:bodyPr vert="horz" lIns="91440" tIns="45720" rIns="91440" bIns="45720" rtlCol="0" anchor="t" anchorCtr="0"/>
          <a:lstStyle>
            <a:lvl1pPr algn="r">
              <a:defRPr sz="900" b="1" i="0">
                <a:solidFill>
                  <a:schemeClr val="accent1"/>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590842" y="6373195"/>
            <a:ext cx="3859795" cy="228659"/>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9" name="Rectangle 2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3"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13519398"/>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6441" y="1314450"/>
            <a:ext cx="7401259" cy="2495550"/>
          </a:xfrm>
        </p:spPr>
        <p:txBody>
          <a:bodyPr/>
          <a:lstStyle/>
          <a:p>
            <a:r>
              <a:rPr dirty="0"/>
              <a:t>Sales Data Analysis Using Python &amp; Power BI</a:t>
            </a:r>
          </a:p>
        </p:txBody>
      </p:sp>
      <p:sp>
        <p:nvSpPr>
          <p:cNvPr id="3" name="Subtitle 2"/>
          <p:cNvSpPr>
            <a:spLocks noGrp="1"/>
          </p:cNvSpPr>
          <p:nvPr>
            <p:ph type="subTitle" idx="1"/>
          </p:nvPr>
        </p:nvSpPr>
        <p:spPr>
          <a:xfrm>
            <a:off x="6762750" y="5276850"/>
            <a:ext cx="2466975" cy="361950"/>
          </a:xfrm>
        </p:spPr>
        <p:txBody>
          <a:bodyPr>
            <a:normAutofit lnSpcReduction="10000"/>
          </a:bodyPr>
          <a:lstStyle/>
          <a:p>
            <a:r>
              <a:rPr dirty="0" err="1"/>
              <a:t>Snehal</a:t>
            </a:r>
            <a:r>
              <a:rPr dirty="0"/>
              <a:t> Desai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normAutofit fontScale="77500" lnSpcReduction="20000"/>
          </a:bodyPr>
          <a:lstStyle/>
          <a:p>
            <a:r>
              <a:rPr lang="en-US" sz="2800" dirty="0">
                <a:latin typeface="Times New Roman" panose="02020603050405020304" pitchFamily="18" charset="0"/>
                <a:cs typeface="Times New Roman" panose="02020603050405020304" pitchFamily="18" charset="0"/>
              </a:rPr>
              <a:t>Organizations collect large volumes of sales data, but the data is often incomplete, inconsistent, and contains errors such as missing values, duplicate records, incorrect formats, and invalid entries. Such poor-quality data makes it difficult to perform accurate analysis and make informed business decisions.</a:t>
            </a:r>
          </a:p>
          <a:p>
            <a:r>
              <a:rPr lang="en-US" sz="2800" dirty="0">
                <a:latin typeface="Times New Roman" panose="02020603050405020304" pitchFamily="18" charset="0"/>
                <a:cs typeface="Times New Roman" panose="02020603050405020304" pitchFamily="18" charset="0"/>
              </a:rPr>
              <a:t>This project aims to clean the sales dataset using Python, perform Exploratory Data Analysis (EDA), and build an interactive Power BI dashboard to generate meaningful business insights.</a:t>
            </a:r>
          </a:p>
          <a:p>
            <a:pPr marL="0" indent="0">
              <a:buNone/>
              <a:defRPr sz="2200"/>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a:xfrm>
            <a:off x="571500" y="2390775"/>
            <a:ext cx="8296275" cy="4010025"/>
          </a:xfrm>
        </p:spPr>
        <p:txBody>
          <a:bodyPr>
            <a:normAutofit fontScale="77500" lnSpcReduction="20000"/>
          </a:bodyPr>
          <a:lstStyle/>
          <a:p>
            <a:r>
              <a:rPr lang="en-US" b="1" dirty="0"/>
              <a:t>Project Overview</a:t>
            </a:r>
          </a:p>
          <a:p>
            <a:r>
              <a:rPr lang="en-US" dirty="0"/>
              <a:t>The project focuses on transforming raw sales data into meaningful insights through a  </a:t>
            </a:r>
          </a:p>
          <a:p>
            <a:pPr marL="0" indent="0">
              <a:buNone/>
            </a:pPr>
            <a:r>
              <a:rPr lang="en-US" dirty="0"/>
              <a:t>        structured data analytics process.</a:t>
            </a:r>
          </a:p>
          <a:p>
            <a:pPr marL="0" indent="0">
              <a:buNone/>
            </a:pPr>
            <a:endParaRPr lang="en-US" dirty="0"/>
          </a:p>
          <a:p>
            <a:r>
              <a:rPr lang="en-US" b="1" dirty="0"/>
              <a:t>Workflow</a:t>
            </a:r>
          </a:p>
          <a:p>
            <a:pPr>
              <a:buFont typeface="Arial" panose="020B0604020202020204" pitchFamily="34" charset="0"/>
              <a:buChar char="•"/>
            </a:pPr>
            <a:r>
              <a:rPr lang="en-US" dirty="0"/>
              <a:t>Load the sales dataset </a:t>
            </a:r>
          </a:p>
          <a:p>
            <a:pPr>
              <a:buFont typeface="Arial" panose="020B0604020202020204" pitchFamily="34" charset="0"/>
              <a:buChar char="•"/>
            </a:pPr>
            <a:r>
              <a:rPr lang="en-US" dirty="0"/>
              <a:t>Clean and preprocess the data using Python </a:t>
            </a:r>
          </a:p>
          <a:p>
            <a:pPr>
              <a:buFont typeface="Arial" panose="020B0604020202020204" pitchFamily="34" charset="0"/>
              <a:buChar char="•"/>
            </a:pPr>
            <a:r>
              <a:rPr lang="en-US" dirty="0"/>
              <a:t>Perform Exploratory Data Analysis (EDA) </a:t>
            </a:r>
          </a:p>
          <a:p>
            <a:pPr>
              <a:buFont typeface="Arial" panose="020B0604020202020204" pitchFamily="34" charset="0"/>
              <a:buChar char="•"/>
            </a:pPr>
            <a:r>
              <a:rPr lang="en-US" dirty="0"/>
              <a:t>Create interactive visualizations in Power BI </a:t>
            </a:r>
          </a:p>
          <a:p>
            <a:pPr>
              <a:buFont typeface="Arial" panose="020B0604020202020204" pitchFamily="34" charset="0"/>
              <a:buChar char="•"/>
            </a:pPr>
            <a:r>
              <a:rPr lang="en-US" dirty="0"/>
              <a:t>Generate business insights for decision-making </a:t>
            </a:r>
          </a:p>
          <a:p>
            <a:pPr marL="0" indent="0">
              <a:buNone/>
            </a:pPr>
            <a:endParaRPr lang="en-US" dirty="0"/>
          </a:p>
          <a:p>
            <a:r>
              <a:rPr lang="en-US" b="1" dirty="0"/>
              <a:t>Expected Outcome</a:t>
            </a:r>
          </a:p>
          <a:p>
            <a:r>
              <a:rPr lang="en-US" dirty="0"/>
              <a:t>A clean dataset and an interactive dashboard that helps analyze sales performance.</a:t>
            </a:r>
          </a:p>
          <a:p>
            <a:pPr marL="0" indent="0">
              <a:buNone/>
              <a:defRPr sz="22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Technologies</a:t>
            </a:r>
          </a:p>
        </p:txBody>
      </p:sp>
      <p:sp>
        <p:nvSpPr>
          <p:cNvPr id="3" name="Content Placeholder 2"/>
          <p:cNvSpPr>
            <a:spLocks noGrp="1"/>
          </p:cNvSpPr>
          <p:nvPr>
            <p:ph idx="1"/>
          </p:nvPr>
        </p:nvSpPr>
        <p:spPr>
          <a:xfrm>
            <a:off x="457199" y="2247900"/>
            <a:ext cx="8486775" cy="4400550"/>
          </a:xfrm>
        </p:spPr>
        <p:txBody>
          <a:bodyPr>
            <a:normAutofit fontScale="25000" lnSpcReduction="20000"/>
          </a:bodyPr>
          <a:lstStyle/>
          <a:p>
            <a:r>
              <a:rPr lang="en-IN" sz="3800" b="1" dirty="0"/>
              <a:t>Programming Language</a:t>
            </a:r>
          </a:p>
          <a:p>
            <a:pPr>
              <a:buFont typeface="Arial" panose="020B0604020202020204" pitchFamily="34" charset="0"/>
              <a:buChar char="•"/>
            </a:pPr>
            <a:r>
              <a:rPr lang="en-IN" sz="3800" dirty="0"/>
              <a:t>Python </a:t>
            </a:r>
          </a:p>
          <a:p>
            <a:pPr>
              <a:buFont typeface="Arial" panose="020B0604020202020204" pitchFamily="34" charset="0"/>
              <a:buChar char="•"/>
            </a:pPr>
            <a:endParaRPr lang="en-IN" sz="3800" dirty="0"/>
          </a:p>
          <a:p>
            <a:r>
              <a:rPr lang="en-IN" sz="3800" b="1" dirty="0"/>
              <a:t>Python Libraries</a:t>
            </a:r>
          </a:p>
          <a:p>
            <a:pPr>
              <a:buFont typeface="Arial" panose="020B0604020202020204" pitchFamily="34" charset="0"/>
              <a:buChar char="•"/>
            </a:pPr>
            <a:r>
              <a:rPr lang="en-IN" sz="3800" dirty="0"/>
              <a:t>Pandas </a:t>
            </a:r>
          </a:p>
          <a:p>
            <a:pPr>
              <a:buFont typeface="Arial" panose="020B0604020202020204" pitchFamily="34" charset="0"/>
              <a:buChar char="•"/>
            </a:pPr>
            <a:r>
              <a:rPr lang="en-IN" sz="3800" dirty="0"/>
              <a:t>NumPy </a:t>
            </a:r>
          </a:p>
          <a:p>
            <a:pPr>
              <a:buFont typeface="Arial" panose="020B0604020202020204" pitchFamily="34" charset="0"/>
              <a:buChar char="•"/>
            </a:pPr>
            <a:r>
              <a:rPr lang="en-IN" sz="3800" dirty="0"/>
              <a:t>Matplotlib </a:t>
            </a:r>
          </a:p>
          <a:p>
            <a:pPr>
              <a:buFont typeface="Arial" panose="020B0604020202020204" pitchFamily="34" charset="0"/>
              <a:buChar char="•"/>
            </a:pPr>
            <a:r>
              <a:rPr lang="en-IN" sz="3800" dirty="0"/>
              <a:t>Seaborn (optional for EDA) </a:t>
            </a:r>
          </a:p>
          <a:p>
            <a:pPr>
              <a:buFont typeface="Arial" panose="020B0604020202020204" pitchFamily="34" charset="0"/>
              <a:buChar char="•"/>
            </a:pPr>
            <a:endParaRPr lang="en-IN" sz="3800" dirty="0"/>
          </a:p>
          <a:p>
            <a:r>
              <a:rPr lang="en-IN" sz="3800" b="1" dirty="0"/>
              <a:t>Visualization Tool</a:t>
            </a:r>
          </a:p>
          <a:p>
            <a:pPr>
              <a:buFont typeface="Arial" panose="020B0604020202020204" pitchFamily="34" charset="0"/>
              <a:buChar char="•"/>
            </a:pPr>
            <a:r>
              <a:rPr lang="en-IN" sz="3800" dirty="0"/>
              <a:t>Power BI </a:t>
            </a:r>
          </a:p>
          <a:p>
            <a:pPr>
              <a:buFont typeface="Arial" panose="020B0604020202020204" pitchFamily="34" charset="0"/>
              <a:buChar char="•"/>
            </a:pPr>
            <a:endParaRPr lang="en-IN" sz="3800" dirty="0"/>
          </a:p>
          <a:p>
            <a:r>
              <a:rPr lang="en-IN" sz="3800" b="1" dirty="0"/>
              <a:t>Development Environment</a:t>
            </a:r>
          </a:p>
          <a:p>
            <a:pPr>
              <a:buFont typeface="Arial" panose="020B0604020202020204" pitchFamily="34" charset="0"/>
              <a:buChar char="•"/>
            </a:pPr>
            <a:r>
              <a:rPr lang="en-IN" sz="3800" dirty="0" err="1"/>
              <a:t>Jupyter</a:t>
            </a:r>
            <a:r>
              <a:rPr lang="en-IN" sz="3800" dirty="0"/>
              <a:t> Notebook </a:t>
            </a:r>
          </a:p>
          <a:p>
            <a:pPr marL="0" indent="0">
              <a:buNone/>
            </a:pPr>
            <a:endParaRPr lang="en-IN" sz="3800" dirty="0"/>
          </a:p>
          <a:p>
            <a:r>
              <a:rPr lang="en-IN" sz="3800" b="1" dirty="0"/>
              <a:t>Dataset</a:t>
            </a:r>
          </a:p>
          <a:p>
            <a:pPr>
              <a:buFont typeface="Arial" panose="020B0604020202020204" pitchFamily="34" charset="0"/>
              <a:buChar char="•"/>
            </a:pPr>
            <a:r>
              <a:rPr lang="en-IN" sz="3800" dirty="0"/>
              <a:t>CSV File (Sales Dataset)</a:t>
            </a:r>
          </a:p>
          <a:p>
            <a:pPr>
              <a:defRPr sz="2200"/>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Cleaning Using Python</a:t>
            </a:r>
          </a:p>
        </p:txBody>
      </p:sp>
      <p:sp>
        <p:nvSpPr>
          <p:cNvPr id="3" name="Content Placeholder 2"/>
          <p:cNvSpPr>
            <a:spLocks noGrp="1"/>
          </p:cNvSpPr>
          <p:nvPr>
            <p:ph idx="1"/>
          </p:nvPr>
        </p:nvSpPr>
        <p:spPr>
          <a:xfrm>
            <a:off x="457199" y="2343150"/>
            <a:ext cx="8582025" cy="4333875"/>
          </a:xfrm>
        </p:spPr>
        <p:txBody>
          <a:bodyPr>
            <a:normAutofit fontScale="55000" lnSpcReduction="20000"/>
          </a:bodyPr>
          <a:lstStyle/>
          <a:p>
            <a:r>
              <a:rPr lang="en-US" b="1" dirty="0"/>
              <a:t>Data Cleaning Steps</a:t>
            </a:r>
          </a:p>
          <a:p>
            <a:pPr marL="0" indent="0">
              <a:buNone/>
            </a:pPr>
            <a:endParaRPr lang="en-US" b="1" dirty="0"/>
          </a:p>
          <a:p>
            <a:pPr>
              <a:buFont typeface="Arial" panose="020B0604020202020204" pitchFamily="34" charset="0"/>
              <a:buChar char="•"/>
            </a:pPr>
            <a:r>
              <a:rPr lang="en-US" dirty="0"/>
              <a:t>Imported required libraries </a:t>
            </a:r>
          </a:p>
          <a:p>
            <a:pPr>
              <a:buFont typeface="Arial" panose="020B0604020202020204" pitchFamily="34" charset="0"/>
              <a:buChar char="•"/>
            </a:pPr>
            <a:r>
              <a:rPr lang="en-US" dirty="0"/>
              <a:t>Loaded the CSV dataset </a:t>
            </a:r>
          </a:p>
          <a:p>
            <a:pPr>
              <a:buFont typeface="Arial" panose="020B0604020202020204" pitchFamily="34" charset="0"/>
              <a:buChar char="•"/>
            </a:pPr>
            <a:r>
              <a:rPr lang="en-US" dirty="0"/>
              <a:t>Checked dataset information </a:t>
            </a:r>
          </a:p>
          <a:p>
            <a:pPr>
              <a:buFont typeface="Arial" panose="020B0604020202020204" pitchFamily="34" charset="0"/>
              <a:buChar char="•"/>
            </a:pPr>
            <a:r>
              <a:rPr lang="en-US" dirty="0"/>
              <a:t>Identified missing values </a:t>
            </a:r>
          </a:p>
          <a:p>
            <a:pPr>
              <a:buFont typeface="Arial" panose="020B0604020202020204" pitchFamily="34" charset="0"/>
              <a:buChar char="•"/>
            </a:pPr>
            <a:r>
              <a:rPr lang="en-US" dirty="0"/>
              <a:t>Converted columns to appropriate data types </a:t>
            </a:r>
          </a:p>
          <a:p>
            <a:pPr>
              <a:buFont typeface="Arial" panose="020B0604020202020204" pitchFamily="34" charset="0"/>
              <a:buChar char="•"/>
            </a:pPr>
            <a:r>
              <a:rPr lang="en-US" dirty="0"/>
              <a:t>Removed extra spaces from text columns </a:t>
            </a:r>
          </a:p>
          <a:p>
            <a:pPr>
              <a:buFont typeface="Arial" panose="020B0604020202020204" pitchFamily="34" charset="0"/>
              <a:buChar char="•"/>
            </a:pPr>
            <a:r>
              <a:rPr lang="en-US" dirty="0"/>
              <a:t>Standardized text formatting </a:t>
            </a:r>
          </a:p>
          <a:p>
            <a:pPr>
              <a:buFont typeface="Arial" panose="020B0604020202020204" pitchFamily="34" charset="0"/>
              <a:buChar char="•"/>
            </a:pPr>
            <a:r>
              <a:rPr lang="en-US" dirty="0"/>
              <a:t>Fixed date formats </a:t>
            </a:r>
          </a:p>
          <a:p>
            <a:pPr>
              <a:buFont typeface="Arial" panose="020B0604020202020204" pitchFamily="34" charset="0"/>
              <a:buChar char="•"/>
            </a:pPr>
            <a:r>
              <a:rPr lang="en-US" dirty="0"/>
              <a:t>Cleaned currency values </a:t>
            </a:r>
          </a:p>
          <a:p>
            <a:pPr>
              <a:buFont typeface="Arial" panose="020B0604020202020204" pitchFamily="34" charset="0"/>
              <a:buChar char="•"/>
            </a:pPr>
            <a:r>
              <a:rPr lang="en-US" dirty="0"/>
              <a:t>Corrected profit margin values </a:t>
            </a:r>
          </a:p>
          <a:p>
            <a:pPr>
              <a:buFont typeface="Arial" panose="020B0604020202020204" pitchFamily="34" charset="0"/>
              <a:buChar char="•"/>
            </a:pPr>
            <a:r>
              <a:rPr lang="en-US" dirty="0"/>
              <a:t>Handled missing values </a:t>
            </a:r>
          </a:p>
          <a:p>
            <a:pPr>
              <a:buFont typeface="Arial" panose="020B0604020202020204" pitchFamily="34" charset="0"/>
              <a:buChar char="•"/>
            </a:pPr>
            <a:r>
              <a:rPr lang="en-US" dirty="0"/>
              <a:t>Exported the cleaned dataset </a:t>
            </a:r>
          </a:p>
          <a:p>
            <a:pPr marL="0" indent="0">
              <a:buNone/>
            </a:pPr>
            <a:endParaRPr lang="en-US" dirty="0"/>
          </a:p>
          <a:p>
            <a:r>
              <a:rPr lang="en-US" b="1" dirty="0"/>
              <a:t>Result</a:t>
            </a:r>
          </a:p>
          <a:p>
            <a:r>
              <a:rPr lang="en-US" dirty="0"/>
              <a:t>A clean and structured dataset ready for analysis.</a:t>
            </a:r>
          </a:p>
          <a:p>
            <a:pPr>
              <a:defRPr sz="2200"/>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EDA Using Python</a:t>
            </a:r>
          </a:p>
        </p:txBody>
      </p:sp>
      <p:sp>
        <p:nvSpPr>
          <p:cNvPr id="3" name="Content Placeholder 2"/>
          <p:cNvSpPr>
            <a:spLocks noGrp="1"/>
          </p:cNvSpPr>
          <p:nvPr>
            <p:ph idx="1"/>
          </p:nvPr>
        </p:nvSpPr>
        <p:spPr/>
        <p:txBody>
          <a:bodyPr>
            <a:normAutofit fontScale="92500" lnSpcReduction="20000"/>
          </a:bodyPr>
          <a:lstStyle/>
          <a:p>
            <a:r>
              <a:rPr lang="en-US" b="1" dirty="0"/>
              <a:t>EDA Performed</a:t>
            </a:r>
          </a:p>
          <a:p>
            <a:pPr marL="0" indent="0">
              <a:buNone/>
            </a:pPr>
            <a:endParaRPr lang="en-US" b="1" dirty="0"/>
          </a:p>
          <a:p>
            <a:pPr>
              <a:buFont typeface="Arial" panose="020B0604020202020204" pitchFamily="34" charset="0"/>
              <a:buChar char="•"/>
            </a:pPr>
            <a:r>
              <a:rPr lang="en-US" dirty="0"/>
              <a:t>Checked summary statistics </a:t>
            </a:r>
          </a:p>
          <a:p>
            <a:pPr>
              <a:buFont typeface="Arial" panose="020B0604020202020204" pitchFamily="34" charset="0"/>
              <a:buChar char="•"/>
            </a:pPr>
            <a:r>
              <a:rPr lang="en-US" dirty="0"/>
              <a:t>Identified missing values </a:t>
            </a:r>
          </a:p>
          <a:p>
            <a:pPr>
              <a:buFont typeface="Arial" panose="020B0604020202020204" pitchFamily="34" charset="0"/>
              <a:buChar char="•"/>
            </a:pPr>
            <a:r>
              <a:rPr lang="en-US" dirty="0"/>
              <a:t>Analyzed sales distribution </a:t>
            </a:r>
          </a:p>
          <a:p>
            <a:pPr>
              <a:buFont typeface="Arial" panose="020B0604020202020204" pitchFamily="34" charset="0"/>
              <a:buChar char="•"/>
            </a:pPr>
            <a:r>
              <a:rPr lang="en-US" dirty="0"/>
              <a:t>Compared sales across regions </a:t>
            </a:r>
          </a:p>
          <a:p>
            <a:pPr>
              <a:buFont typeface="Arial" panose="020B0604020202020204" pitchFamily="34" charset="0"/>
              <a:buChar char="•"/>
            </a:pPr>
            <a:r>
              <a:rPr lang="en-US" dirty="0"/>
              <a:t>Compared product-wise sales </a:t>
            </a:r>
          </a:p>
          <a:p>
            <a:pPr>
              <a:buFont typeface="Arial" panose="020B0604020202020204" pitchFamily="34" charset="0"/>
              <a:buChar char="•"/>
            </a:pPr>
            <a:r>
              <a:rPr lang="en-US" dirty="0"/>
              <a:t>Category-wise sales analysis </a:t>
            </a:r>
          </a:p>
          <a:p>
            <a:pPr>
              <a:buFont typeface="Arial" panose="020B0604020202020204" pitchFamily="34" charset="0"/>
              <a:buChar char="•"/>
            </a:pPr>
            <a:r>
              <a:rPr lang="en-US" dirty="0"/>
              <a:t>Monthly sales trend </a:t>
            </a:r>
          </a:p>
          <a:p>
            <a:pPr>
              <a:buFont typeface="Arial" panose="020B0604020202020204" pitchFamily="34" charset="0"/>
              <a:buChar char="•"/>
            </a:pPr>
            <a:r>
              <a:rPr lang="en-US" dirty="0"/>
              <a:t>Profit margin analysis</a:t>
            </a:r>
          </a:p>
          <a:p>
            <a:pPr marL="0" indent="0">
              <a:buNone/>
              <a:defRPr sz="2200"/>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BI Dashboard</a:t>
            </a:r>
          </a:p>
        </p:txBody>
      </p:sp>
      <p:sp>
        <p:nvSpPr>
          <p:cNvPr id="3" name="Content Placeholder 2"/>
          <p:cNvSpPr>
            <a:spLocks noGrp="1"/>
          </p:cNvSpPr>
          <p:nvPr>
            <p:ph idx="1"/>
          </p:nvPr>
        </p:nvSpPr>
        <p:spPr>
          <a:xfrm>
            <a:off x="457200" y="2381250"/>
            <a:ext cx="8229600" cy="3933825"/>
          </a:xfrm>
        </p:spPr>
        <p:txBody>
          <a:bodyPr>
            <a:normAutofit fontScale="25000" lnSpcReduction="20000"/>
          </a:bodyPr>
          <a:lstStyle/>
          <a:p>
            <a:r>
              <a:rPr lang="en-US" b="1" dirty="0"/>
              <a:t>Dashboard Components</a:t>
            </a:r>
          </a:p>
          <a:p>
            <a:pPr marL="0" indent="0">
              <a:buNone/>
            </a:pPr>
            <a:endParaRPr lang="en-US" b="1" dirty="0"/>
          </a:p>
          <a:p>
            <a:r>
              <a:rPr lang="en-US" b="1" dirty="0"/>
              <a:t>KPI Cards</a:t>
            </a:r>
          </a:p>
          <a:p>
            <a:pPr>
              <a:buFont typeface="Arial" panose="020B0604020202020204" pitchFamily="34" charset="0"/>
              <a:buChar char="•"/>
            </a:pPr>
            <a:r>
              <a:rPr lang="en-US" dirty="0"/>
              <a:t>Total Sales </a:t>
            </a:r>
          </a:p>
          <a:p>
            <a:pPr>
              <a:buFont typeface="Arial" panose="020B0604020202020204" pitchFamily="34" charset="0"/>
              <a:buChar char="•"/>
            </a:pPr>
            <a:r>
              <a:rPr lang="en-US" dirty="0"/>
              <a:t>Total Units Sold </a:t>
            </a:r>
          </a:p>
          <a:p>
            <a:pPr>
              <a:buFont typeface="Arial" panose="020B0604020202020204" pitchFamily="34" charset="0"/>
              <a:buChar char="•"/>
            </a:pPr>
            <a:r>
              <a:rPr lang="en-US" dirty="0"/>
              <a:t>Average Unit Price </a:t>
            </a:r>
          </a:p>
          <a:p>
            <a:pPr>
              <a:buFont typeface="Arial" panose="020B0604020202020204" pitchFamily="34" charset="0"/>
              <a:buChar char="•"/>
            </a:pPr>
            <a:r>
              <a:rPr lang="en-US" dirty="0"/>
              <a:t>Average Profit Margin </a:t>
            </a:r>
          </a:p>
          <a:p>
            <a:pPr>
              <a:buFont typeface="Arial" panose="020B0604020202020204" pitchFamily="34" charset="0"/>
              <a:buChar char="•"/>
            </a:pPr>
            <a:r>
              <a:rPr lang="en-US" dirty="0"/>
              <a:t>Total Orders </a:t>
            </a:r>
          </a:p>
          <a:p>
            <a:pPr marL="0" indent="0">
              <a:buNone/>
            </a:pPr>
            <a:endParaRPr lang="en-US" dirty="0"/>
          </a:p>
          <a:p>
            <a:r>
              <a:rPr lang="en-US" b="1" dirty="0"/>
              <a:t>Charts</a:t>
            </a:r>
          </a:p>
          <a:p>
            <a:pPr>
              <a:buFont typeface="Arial" panose="020B0604020202020204" pitchFamily="34" charset="0"/>
              <a:buChar char="•"/>
            </a:pPr>
            <a:r>
              <a:rPr lang="en-US" dirty="0"/>
              <a:t>Area Chart → Sales Trend Over Time </a:t>
            </a:r>
          </a:p>
          <a:p>
            <a:pPr>
              <a:buFont typeface="Arial" panose="020B0604020202020204" pitchFamily="34" charset="0"/>
              <a:buChar char="•"/>
            </a:pPr>
            <a:r>
              <a:rPr lang="en-US" dirty="0"/>
              <a:t>Bar Chart → Sales by Region </a:t>
            </a:r>
          </a:p>
          <a:p>
            <a:pPr>
              <a:buFont typeface="Arial" panose="020B0604020202020204" pitchFamily="34" charset="0"/>
              <a:buChar char="•"/>
            </a:pPr>
            <a:r>
              <a:rPr lang="en-US" dirty="0"/>
              <a:t>Donut Chart → Sales by Category </a:t>
            </a:r>
          </a:p>
          <a:p>
            <a:pPr>
              <a:buFont typeface="Arial" panose="020B0604020202020204" pitchFamily="34" charset="0"/>
              <a:buChar char="•"/>
            </a:pPr>
            <a:r>
              <a:rPr lang="en-US" dirty="0"/>
              <a:t>Column Chart → Units Sold by Product </a:t>
            </a:r>
          </a:p>
          <a:p>
            <a:pPr marL="0" indent="0">
              <a:buNone/>
            </a:pPr>
            <a:endParaRPr lang="en-US" dirty="0"/>
          </a:p>
          <a:p>
            <a:pPr marL="0" indent="0">
              <a:buNone/>
            </a:pPr>
            <a:endParaRPr lang="en-US" dirty="0"/>
          </a:p>
          <a:p>
            <a:r>
              <a:rPr lang="en-US" b="1" dirty="0"/>
              <a:t>Slicers</a:t>
            </a:r>
          </a:p>
          <a:p>
            <a:pPr>
              <a:buFont typeface="Arial" panose="020B0604020202020204" pitchFamily="34" charset="0"/>
              <a:buChar char="•"/>
            </a:pPr>
            <a:r>
              <a:rPr lang="en-US" dirty="0"/>
              <a:t>Date </a:t>
            </a:r>
          </a:p>
          <a:p>
            <a:pPr>
              <a:buFont typeface="Arial" panose="020B0604020202020204" pitchFamily="34" charset="0"/>
              <a:buChar char="•"/>
            </a:pPr>
            <a:r>
              <a:rPr lang="en-US" dirty="0"/>
              <a:t>Region </a:t>
            </a:r>
          </a:p>
          <a:p>
            <a:pPr>
              <a:buFont typeface="Arial" panose="020B0604020202020204" pitchFamily="34" charset="0"/>
              <a:buChar char="•"/>
            </a:pPr>
            <a:r>
              <a:rPr lang="en-US" dirty="0"/>
              <a:t>Category </a:t>
            </a:r>
          </a:p>
          <a:p>
            <a:pPr>
              <a:buFont typeface="Arial" panose="020B0604020202020204" pitchFamily="34" charset="0"/>
              <a:buChar char="•"/>
            </a:pPr>
            <a:r>
              <a:rPr lang="en-US" dirty="0"/>
              <a:t>Product</a:t>
            </a:r>
          </a:p>
          <a:p>
            <a:pPr marL="0" indent="0">
              <a:buNone/>
              <a:defRPr sz="2200"/>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Insights</a:t>
            </a:r>
          </a:p>
        </p:txBody>
      </p:sp>
      <p:sp>
        <p:nvSpPr>
          <p:cNvPr id="3" name="Content Placeholder 2"/>
          <p:cNvSpPr>
            <a:spLocks noGrp="1"/>
          </p:cNvSpPr>
          <p:nvPr>
            <p:ph idx="1"/>
          </p:nvPr>
        </p:nvSpPr>
        <p:spPr/>
        <p:txBody>
          <a:bodyPr>
            <a:normAutofit/>
          </a:bodyPr>
          <a:lstStyle/>
          <a:p>
            <a:r>
              <a:rPr lang="en-US" b="1" dirty="0"/>
              <a:t>Key Insights</a:t>
            </a:r>
          </a:p>
          <a:p>
            <a:pPr marL="0" indent="0">
              <a:buNone/>
            </a:pPr>
            <a:endParaRPr lang="en-US" b="1" dirty="0"/>
          </a:p>
          <a:p>
            <a:pPr>
              <a:buFont typeface="Arial" panose="020B0604020202020204" pitchFamily="34" charset="0"/>
              <a:buChar char="•"/>
            </a:pPr>
            <a:r>
              <a:rPr lang="en-US" dirty="0"/>
              <a:t>Identified the highest-performing sales region. </a:t>
            </a:r>
          </a:p>
          <a:p>
            <a:pPr>
              <a:buFont typeface="Arial" panose="020B0604020202020204" pitchFamily="34" charset="0"/>
              <a:buChar char="•"/>
            </a:pPr>
            <a:r>
              <a:rPr lang="en-US" dirty="0"/>
              <a:t>Compared sales performance across product categories. </a:t>
            </a:r>
          </a:p>
          <a:p>
            <a:pPr>
              <a:buFont typeface="Arial" panose="020B0604020202020204" pitchFamily="34" charset="0"/>
              <a:buChar char="•"/>
            </a:pPr>
            <a:r>
              <a:rPr lang="en-US" dirty="0"/>
              <a:t>Analyzed monthly sales trends. </a:t>
            </a:r>
          </a:p>
          <a:p>
            <a:pPr>
              <a:buFont typeface="Arial" panose="020B0604020202020204" pitchFamily="34" charset="0"/>
              <a:buChar char="•"/>
            </a:pPr>
            <a:r>
              <a:rPr lang="en-US" dirty="0"/>
              <a:t>Identified top-selling products. </a:t>
            </a:r>
          </a:p>
          <a:p>
            <a:pPr>
              <a:buFont typeface="Arial" panose="020B0604020202020204" pitchFamily="34" charset="0"/>
              <a:buChar char="•"/>
            </a:pPr>
            <a:r>
              <a:rPr lang="en-US" dirty="0"/>
              <a:t>Evaluated average profit margins. </a:t>
            </a:r>
          </a:p>
          <a:p>
            <a:pPr>
              <a:buFont typeface="Arial" panose="020B0604020202020204" pitchFamily="34" charset="0"/>
              <a:buChar char="•"/>
            </a:pPr>
            <a:r>
              <a:rPr lang="en-US" dirty="0"/>
              <a:t>Enabled interactive analysis using dashboard filters.</a:t>
            </a:r>
          </a:p>
          <a:p>
            <a:pPr marL="0" indent="0">
              <a:buNone/>
              <a:defRPr sz="2200"/>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2200"/>
            </a:pPr>
            <a:r>
              <a:rPr lang="en-US" dirty="0"/>
              <a:t>This project successfully transformed raw sales data into a clean and structured dataset using Python. Exploratory Data Analysis helped identify important sales patterns and trends. Finally, an interactive Power BI dashboard was developed to visualize key performance indicators and support data-driven business decisions.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697412"/>
          </a:xfrm>
        </p:spPr>
        <p:txBody>
          <a:bodyPr/>
          <a:lstStyle/>
          <a:p>
            <a:r>
              <a:rPr dirty="0"/>
              <a:t>Thank You</a:t>
            </a:r>
          </a:p>
        </p:txBody>
      </p:sp>
      <p:sp>
        <p:nvSpPr>
          <p:cNvPr id="3" name="Content Placeholder 2"/>
          <p:cNvSpPr>
            <a:spLocks noGrp="1"/>
          </p:cNvSpPr>
          <p:nvPr>
            <p:ph idx="1"/>
          </p:nvPr>
        </p:nvSpPr>
        <p:spPr>
          <a:xfrm>
            <a:off x="1933575" y="3133725"/>
            <a:ext cx="5572126" cy="1419225"/>
          </a:xfrm>
        </p:spPr>
        <p:txBody>
          <a:bodyPr>
            <a:normAutofit/>
          </a:bodyPr>
          <a:lstStyle/>
          <a:p>
            <a:pPr marL="0" indent="0">
              <a:buNone/>
              <a:defRPr sz="2200"/>
            </a:pPr>
            <a:r>
              <a:rPr lang="en-IN" sz="6000" dirty="0"/>
              <a:t>Thank You</a:t>
            </a:r>
            <a:endParaRPr sz="6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Ion Boardroom</Template>
  <TotalTime>423</TotalTime>
  <Words>428</Words>
  <Application>Microsoft Office PowerPoint</Application>
  <PresentationFormat>On-screen Show (4:3)</PresentationFormat>
  <Paragraphs>101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Times New Roman</vt:lpstr>
      <vt:lpstr>Wingdings 3</vt:lpstr>
      <vt:lpstr>Ion Boardroom</vt:lpstr>
      <vt:lpstr>Sales Data Analysis Using Python &amp; Power BI</vt:lpstr>
      <vt:lpstr>Problem Statement</vt:lpstr>
      <vt:lpstr>Project Overview</vt:lpstr>
      <vt:lpstr>Tools &amp; Technologies</vt:lpstr>
      <vt:lpstr>Data Cleaning Using Python</vt:lpstr>
      <vt:lpstr>EDA Using Python</vt:lpstr>
      <vt:lpstr>Power BI Dashboard</vt:lpstr>
      <vt:lpstr>Business Insights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Data Analysis Using Python &amp; Power BI</dc:title>
  <dc:subject/>
  <dc:creator/>
  <cp:keywords/>
  <dc:description>generated using python-pptx</dc:description>
  <cp:lastModifiedBy>Sanket Desai</cp:lastModifiedBy>
  <cp:revision>4</cp:revision>
  <dcterms:created xsi:type="dcterms:W3CDTF">2013-01-27T09:14:16Z</dcterms:created>
  <dcterms:modified xsi:type="dcterms:W3CDTF">2026-07-02T17:05:24Z</dcterms:modified>
  <cp:category/>
</cp:coreProperties>
</file>